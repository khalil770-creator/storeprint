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4626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73152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0" y="2011680"/>
            <a:ext cx="1828800" cy="18288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StorePrint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02920" y="2029968"/>
            <a:ext cx="128016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Store Management Platform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 ·  Audit  ·  Operate  ·  Grow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749040"/>
            <a:ext cx="5029200" cy="36576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858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  | 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38912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1A346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43891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Hub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938528" y="438912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1A346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38528" y="43891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Auditing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74136" y="438912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1A346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74136" y="43891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9744" y="438912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1A346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9744" y="43891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45352" y="438912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1A346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45352" y="43891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680960" y="438912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1A346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80960" y="43891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Facing Multi-Store Brands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206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206240" cy="54864"/>
          </a:xfrm>
          <a:prstGeom prst="roundRect">
            <a:avLst>
              <a:gd name="adj" fmla="val 6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243584"/>
            <a:ext cx="475488" cy="475488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4712" y="124358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Operations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24712" y="1554480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to manage compliance, attendance, assets and communication across all stores.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4206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078992"/>
            <a:ext cx="4206240" cy="54864"/>
          </a:xfrm>
          <a:prstGeom prst="roundRect">
            <a:avLst>
              <a:gd name="adj" fmla="val 6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37760" y="1243584"/>
            <a:ext cx="475488" cy="475488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2435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59552" y="124358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Auditing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59552" y="1554480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checklists, inconsistent standards, no GPS verification or automated scoring.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53512"/>
            <a:ext cx="4206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953512"/>
            <a:ext cx="4206240" cy="54864"/>
          </a:xfrm>
          <a:prstGeom prst="roundRect">
            <a:avLst>
              <a:gd name="adj" fmla="val 6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3118104"/>
            <a:ext cx="475488" cy="475488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1181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4712" y="31181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Gaps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4712" y="3429000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of who is on the floor. Clock-ins unverified and unreliable.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53512"/>
            <a:ext cx="4206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2953512"/>
            <a:ext cx="4206240" cy="54864"/>
          </a:xfrm>
          <a:prstGeom prst="roundRect">
            <a:avLst>
              <a:gd name="adj" fmla="val 6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37760" y="3118104"/>
            <a:ext cx="475488" cy="475488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31181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59552" y="31181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SaaS Costs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59552" y="3429000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platforms charge $15–50/user/month with limited customisation or data control.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StorePrint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Seven modules. Complete store control.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 &amp; Web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managers, auditors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16642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2240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Portal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6517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brand oversight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6642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2240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Backend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6517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scalable, yours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822960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·  Node.js  ·  PostgreSQL  ·  Docker  ·  Self-Hosted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containerised via Docker  ·  Self-hosted or cloud-deployable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651760" cy="384048"/>
          </a:xfrm>
          <a:prstGeom prst="roundRect">
            <a:avLst>
              <a:gd name="adj" fmla="val 11905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" y="1783080"/>
            <a:ext cx="164592" cy="164592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160020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258568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" y="2441448"/>
            <a:ext cx="164592" cy="164592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225856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16936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" y="3099816"/>
            <a:ext cx="164592" cy="164592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" y="291693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71800" y="237744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0" y="1078992"/>
            <a:ext cx="2651760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0" y="10789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1600200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364992" y="17830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39312" y="160020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2258568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64992" y="244144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39312" y="225856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JWT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2916936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64992" y="309981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39312" y="291693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Verify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0" y="3575304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64992" y="375818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39312" y="357530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52160" y="237744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80760" y="1078992"/>
            <a:ext cx="265176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80760" y="10789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80760" y="1600200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45352" y="178308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19672" y="160020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80760" y="2258568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245352" y="2441448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19672" y="225856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Storage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80760" y="2916936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45352" y="3099816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19672" y="291693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080760" y="3575304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245352" y="3758184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519672" y="357530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Meilisearch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Integrated Modules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Hub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86537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library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8880" y="109728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86537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GPS-verified compliance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6012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09728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186537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presence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96012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109728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186537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management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44752" y="2633472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44752" y="278892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44752" y="32644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Ops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44752" y="3566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operational modules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93592" y="2633472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93592" y="278892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593592" y="32644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93592" y="3566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insights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42432" y="2633472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42432" y="278892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742432" y="32644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42432" y="3566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brand control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is independently accessible via role-based permissions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Hub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Digital Asset Library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2064" y="135788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14300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guidelines, logos and campaigns in one place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819656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2064" y="203454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1819656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images, PDFs and documents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496312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2064" y="271119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2496312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Category-based organisation and search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172968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2064" y="3387852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3172968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WhatsApp &amp; email sharing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849624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2064" y="406450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3849624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per module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240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Hub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4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0D29369-69D5-DC6F-65CC-543824A5D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690" y="973603"/>
            <a:ext cx="2862950" cy="34831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Compliance Auditing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GPS-verified, scored, automated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Form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94760" y="1078992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977640" y="126187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77640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98848" y="11521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Templates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98848" y="144475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Yes/No, Photo, Score 1–5, Free Text question types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94760" y="1984248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77640" y="216712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77640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98848" y="20574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Scoring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98848" y="23500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carries a weight multiplier (1–5×)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94760" y="2889504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977640" y="307238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77640" y="3072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98848" y="29626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Enforcement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98848" y="325526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must be physically at store to submit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794760" y="3794760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977640" y="397764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97764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498848" y="38679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Corrective Actions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498848" y="41605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failures instantly create assigned action items</a:t>
            </a:r>
            <a:endParaRPr lang="en-US" sz="11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7E71C64-564D-A489-E7B3-AA3DE568A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04" y="932688"/>
            <a:ext cx="3141036" cy="38197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Workflow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1188720"/>
            <a:ext cx="822960" cy="822960"/>
          </a:xfrm>
          <a:prstGeom prst="ellipse">
            <a:avLst/>
          </a:prstGeom>
          <a:solidFill>
            <a:srgbClr val="0F234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Builds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1600200"/>
            <a:ext cx="78638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32304" y="1188720"/>
            <a:ext cx="822960" cy="822960"/>
          </a:xfrm>
          <a:prstGeom prst="ellipse">
            <a:avLst/>
          </a:prstGeom>
          <a:solidFill>
            <a:srgbClr val="0F234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32304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57984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Selects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55264" y="1600200"/>
            <a:ext cx="78638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41648" y="1188720"/>
            <a:ext cx="822960" cy="822960"/>
          </a:xfrm>
          <a:prstGeom prst="ellipse">
            <a:avLst/>
          </a:prstGeom>
          <a:solidFill>
            <a:srgbClr val="0F234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41648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67328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64608" y="1600200"/>
            <a:ext cx="78638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50992" y="1188720"/>
            <a:ext cx="822960" cy="822960"/>
          </a:xfrm>
          <a:prstGeom prst="ellipse">
            <a:avLst/>
          </a:prstGeom>
          <a:solidFill>
            <a:srgbClr val="0F234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50992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76672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Verified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73952" y="1600200"/>
            <a:ext cx="78638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60336" y="1188720"/>
            <a:ext cx="822960" cy="82296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60336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86016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Report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0175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8640" y="37673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Auto-weighted Scoring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calculation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0175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9184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429000" y="37673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Timestamped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2900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submission geo-verified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30175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7220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309360" y="37673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Corrective Actions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936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fails auto-assigned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Attendance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GPS-verified presence management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2064" y="1330452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115568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clock in/out — verified against store geofence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792224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2064" y="200710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1792224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live presence dashboard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2064" y="268376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246888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arrival &amp; early exit detection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145536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2064" y="336042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3145536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attendance log with timestamps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822192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2064" y="403707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3822192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tracking: Present / Late / Absent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49240" y="987552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0F2342"/>
          </a:solidFill>
          <a:ln w="12700">
            <a:solidFill>
              <a:srgbClr val="1A346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49240" y="11430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Presence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0" y="1664208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96128" y="1746504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97880" y="16642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R.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16642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2157984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96128" y="2240280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97880" y="215798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K.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0" y="215798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2651760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596128" y="2734056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897880" y="26517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M.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26517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0" y="3145536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596128" y="322783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897880" y="314553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Nadia T.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0" y="314553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0" y="3639312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596128" y="3721608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897880" y="36393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Usman F.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0" y="36393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0" y="4133088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596128" y="4215384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897880" y="41330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Rizwan S.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0" y="41330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394960" y="4645152"/>
            <a:ext cx="105156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394960" y="464515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Present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537960" y="4645152"/>
            <a:ext cx="105156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37960" y="464515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Late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680960" y="4645152"/>
            <a:ext cx="105156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680960" y="464515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Absent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Roster Management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Roster 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45059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– Morning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351129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– Morning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3360" y="987552"/>
            <a:ext cx="480060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23360" y="987552"/>
            <a:ext cx="4800600" cy="384048"/>
          </a:xfrm>
          <a:prstGeom prst="roundRect">
            <a:avLst>
              <a:gd name="adj" fmla="val 19048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23360" y="98755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👔  For Managers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06240" y="157276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34840" y="14630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weekly/monthly rosters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06240" y="1901952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34840" y="1792224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shifts: date, time, role, zone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06240" y="223113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34840" y="2121408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Draft-to-Publish workflow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06240" y="256032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34840" y="245059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/ Evening classification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023360" y="3044952"/>
            <a:ext cx="480060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023360" y="3044952"/>
            <a:ext cx="4800600" cy="384048"/>
          </a:xfrm>
          <a:prstGeom prst="roundRect">
            <a:avLst>
              <a:gd name="adj" fmla="val 19048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23360" y="304495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🧑‍💼  For Staff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206240" y="363016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34840" y="35204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Shifts view — upcoming &amp; past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06240" y="3959352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434840" y="3849624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visibility on roster publish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06240" y="428853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434840" y="4178808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hours display</a:t>
            </a:r>
            <a:endParaRPr lang="en-US" sz="11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5FB92CB-61AA-4FF4-AF25-7B118FEBA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84" y="953390"/>
            <a:ext cx="3101897" cy="38082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Operations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operational modules in one tab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7922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Merchandising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305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Planogram compliance &amp; VM tasks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78992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2618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📣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37560" y="17922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1305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rollout tracking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078992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80760" y="12618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🪧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17920" y="17922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1305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signage compliance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907792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0906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" y="36210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959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onboarding &amp; certification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907792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0" y="30906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🏗️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337560" y="36210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37560" y="3959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condition checks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2907792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80760" y="30906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217920" y="36210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Experience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959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surveys &amp; feedback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Insights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Scores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% by store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24128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097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68880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82880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presence data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024128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1097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17720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182880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stores side by side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024128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1097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66560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182880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standard adherence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377440"/>
            <a:ext cx="850392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Compliance Scores — Last 30 Days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264408"/>
            <a:ext cx="822960" cy="1261872"/>
          </a:xfrm>
          <a:prstGeom prst="roundRect">
            <a:avLst>
              <a:gd name="adj" fmla="val 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29900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11680" y="3332988"/>
            <a:ext cx="822960" cy="1193292"/>
          </a:xfrm>
          <a:prstGeom prst="roundRect">
            <a:avLst>
              <a:gd name="adj" fmla="val 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11680" y="30586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20240" y="4572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Clifton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83280" y="3223260"/>
            <a:ext cx="822960" cy="1303020"/>
          </a:xfrm>
          <a:prstGeom prst="roundRect">
            <a:avLst>
              <a:gd name="adj" fmla="val 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83280" y="29489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4572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Gulshan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456432"/>
            <a:ext cx="822960" cy="1069848"/>
          </a:xfrm>
          <a:prstGeom prst="roundRect">
            <a:avLst>
              <a:gd name="adj" fmla="val 444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31821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4572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PECHS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3552444"/>
            <a:ext cx="822960" cy="973836"/>
          </a:xfrm>
          <a:prstGeom prst="roundRect">
            <a:avLst>
              <a:gd name="adj" fmla="val 4444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26480" y="327812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4572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Saddar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98080" y="3319272"/>
            <a:ext cx="822960" cy="1207008"/>
          </a:xfrm>
          <a:prstGeom prst="roundRect">
            <a:avLst>
              <a:gd name="adj" fmla="val 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98080" y="3044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06640" y="4572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Bahadurabad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Web Portal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brand oversight from a browser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2651760" cy="3822192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0241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👤  User Management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82880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0936" y="206654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8288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users &amp; assign roles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" y="256032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" y="279806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5603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granular permissions per module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" y="329184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" y="352958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2918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Active/inactive status control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024128"/>
            <a:ext cx="2651760" cy="3822192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1024128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10241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🏪  Store Management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64992" y="182880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11296" y="206654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49040" y="18288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geofence setup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4992" y="256032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511296" y="279806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49040" y="25603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hierarchy &amp; zoning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64992" y="329184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511296" y="352958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49040" y="32918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assignment &amp; status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1024128"/>
            <a:ext cx="2651760" cy="3822192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0760" y="1024128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80760" y="10241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📝  Audit Builder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45352" y="182880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91656" y="206654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29400" y="18288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templates with categories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45352" y="256032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91656" y="279806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29400" y="25603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question weights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45352" y="329184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391656" y="352958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29400" y="32918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&amp; manage templates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Granular Role-Based Access Control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828800" cy="38404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024128"/>
            <a:ext cx="960120" cy="38404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48840" y="1024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Hub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54680" y="1024128"/>
            <a:ext cx="960120" cy="38404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54680" y="1024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60520" y="1024128"/>
            <a:ext cx="960120" cy="38404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60520" y="1024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66360" y="1024128"/>
            <a:ext cx="960120" cy="38404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66360" y="1024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72200" y="1024128"/>
            <a:ext cx="960120" cy="38404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1024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78040" y="1024128"/>
            <a:ext cx="960120" cy="38404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78040" y="1024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183880" y="1024128"/>
            <a:ext cx="960120" cy="38404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83880" y="1024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1408176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1408176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48840" y="140817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40280" y="14996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40280" y="14996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54680" y="140817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46120" y="14996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46120" y="14996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60520" y="140817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251960" y="14996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51960" y="14996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66360" y="140817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257800" y="14996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257800" y="14996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72200" y="140817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63640" y="14996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63640" y="14996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78040" y="140817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269480" y="14996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269480" y="14996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183880" y="140817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275320" y="14996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75320" y="14996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1956816"/>
            <a:ext cx="18288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84048" y="1956816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Manager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148840" y="195681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240280" y="204825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240280" y="204825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54680" y="195681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246120" y="204825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246120" y="204825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160520" y="195681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251960" y="204825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251960" y="204825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166360" y="195681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257800" y="204825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257800" y="204825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72200" y="195681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263640" y="204825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263640" y="204825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040" y="195681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269480" y="204825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269480" y="204825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183880" y="195681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275320" y="204825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275320" y="204825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20040" y="2505456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84048" y="2505456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Manager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148840" y="250545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240280" y="259689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240280" y="25968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154680" y="250545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246120" y="259689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246120" y="25968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160520" y="250545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4251960" y="259689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251960" y="25968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166360" y="250545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5257800" y="259689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257800" y="25968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172200" y="250545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263640" y="259689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263640" y="25968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178040" y="250545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269480" y="259689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269480" y="25968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183880" y="250545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275320" y="259689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8275320" y="25968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20040" y="3054096"/>
            <a:ext cx="18288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84048" y="3054096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2148840" y="305409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240280" y="314553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2240280" y="314553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3154680" y="305409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3246120" y="314553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246120" y="314553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4160520" y="305409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4251960" y="314553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4251960" y="314553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5166360" y="305409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5257800" y="314553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5257800" y="314553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172200" y="305409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6263640" y="314553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6263640" y="314553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7178040" y="305409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7269480" y="314553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7269480" y="314553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8183880" y="305409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8275320" y="314553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8275320" y="314553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320040" y="3602736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384048" y="3602736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Staff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2148840" y="360273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2240280" y="369417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2240280" y="369417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3154680" y="360273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3246120" y="369417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3246120" y="369417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4160520" y="360273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4251960" y="369417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4251960" y="369417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5166360" y="360273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5257800" y="369417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5257800" y="369417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6172200" y="360273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6263640" y="369417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6263640" y="369417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7178040" y="360273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7269480" y="369417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7269480" y="369417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8183880" y="360273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8275320" y="369417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8275320" y="369417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320040" y="4151376"/>
            <a:ext cx="18288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84048" y="4151376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2148840" y="415137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2240280" y="42428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2240280" y="42428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3154680" y="415137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3246120" y="42428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3246120" y="42428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4160520" y="415137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4251960" y="42428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4251960" y="42428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5166360" y="415137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5257800" y="42428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5257800" y="42428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6172200" y="415137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6263640" y="42428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6263640" y="42428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7178040" y="415137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7269480" y="42428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153"/>
          <p:cNvSpPr/>
          <p:nvPr/>
        </p:nvSpPr>
        <p:spPr>
          <a:xfrm>
            <a:off x="7269480" y="42428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8183880" y="4151376"/>
            <a:ext cx="960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8275320" y="4242816"/>
            <a:ext cx="7772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8275320" y="42428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320040" y="4773168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32004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2331720" y="4773168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233172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4343400" y="4773168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62"/>
          <p:cNvSpPr/>
          <p:nvPr/>
        </p:nvSpPr>
        <p:spPr>
          <a:xfrm>
            <a:off x="43434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Market Comparison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StorePrint vs. established players — including AI-powered platforms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36576"/>
          </a:xfrm>
          <a:prstGeom prst="roundRect">
            <a:avLst>
              <a:gd name="adj" fmla="val 10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078992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078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COMPETITOR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04288" y="1078992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04288" y="10789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Wooqer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377440" y="137160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frontline OS — audits, tasks, SensEye planogram AI, Lens SOP assistant, Wally co-pilot. 450+ enterprise clients worldwide.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35331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49440" y="13533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pricing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49440" y="166420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$20–40/user/mo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3774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272491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audit &amp; task mgmt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05409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$25–40/user/mo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3774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37560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GoSpotCheck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37560" y="272491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execution (now Movista)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054096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305409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$30–50/user/mo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0760" y="23774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0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Reflexis / Zebra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17920" y="272491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workforce mgmt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054096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305409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$20–35/user/mo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547872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6210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Tulip Retail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38953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ops — no GPS auditing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224528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22452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$40–60/user/mo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0" y="3547872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37560" y="36210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StoreForce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337560" y="38953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workforce — scheduling only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37560" y="4224528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37560" y="422452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$15–25/user/mo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80760" y="3547872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17920" y="36210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Axonify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217920" y="38953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training — single module only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4224528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17920" y="422452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$10–20/user/mo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4681728"/>
            <a:ext cx="8503920" cy="329184"/>
          </a:xfrm>
          <a:prstGeom prst="roundRect">
            <a:avLst>
              <a:gd name="adj" fmla="val 16667"/>
            </a:avLst>
          </a:prstGeom>
          <a:solidFill>
            <a:srgbClr val="0F2342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1480" y="4681728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StorePrint  |  Self-Hosted  |  No Per-User Fees  |  7 Integrated Modules  |  GPS-First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Comparison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0" y="1024128"/>
            <a:ext cx="1078992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0" y="1024128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StorePrint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39312" y="1024128"/>
            <a:ext cx="1078992" cy="41148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39312" y="1024128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Wooqer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18304" y="1024128"/>
            <a:ext cx="1078992" cy="41148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18304" y="1024128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97296" y="1024128"/>
            <a:ext cx="1078992" cy="41148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97296" y="1024128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GoSpotCheck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76288" y="1024128"/>
            <a:ext cx="1078992" cy="41148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76288" y="1024128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955280" y="1024128"/>
            <a:ext cx="1078992" cy="41148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55280" y="1024128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024128"/>
            <a:ext cx="2240280" cy="41148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10241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1435608"/>
            <a:ext cx="2240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1435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GPS-Verified Auditing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0" y="1435608"/>
            <a:ext cx="1078992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60320" y="14356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39312" y="14356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39312" y="14356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18304" y="14356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18304" y="14356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97296" y="14356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97296" y="14356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76288" y="14356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76288" y="14356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55280" y="14356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55280" y="14356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0040" y="1755648"/>
            <a:ext cx="22402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17556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Evidence in Audits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560320" y="1755648"/>
            <a:ext cx="1078992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60320" y="17556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39312" y="175564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39312" y="17556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18304" y="175564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18304" y="17556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797296" y="175564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797296" y="17556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76288" y="175564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76288" y="17556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955280" y="175564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955280" y="17556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20040" y="2075688"/>
            <a:ext cx="2240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1480" y="207568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Clock In/Out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560320" y="2075688"/>
            <a:ext cx="1078992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560320" y="20756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639312" y="207568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639312" y="20756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718304" y="207568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718304" y="20756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797296" y="207568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797296" y="20756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876288" y="207568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876288" y="20756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955280" y="207568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955280" y="20756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20040" y="2395728"/>
            <a:ext cx="22402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11480" y="239572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/ Shift Management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560320" y="2395728"/>
            <a:ext cx="1078992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560320" y="23957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3639312" y="239572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639312" y="23957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718304" y="239572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718304" y="23957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797296" y="239572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797296" y="23957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876288" y="239572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876288" y="23957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955280" y="239572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955280" y="23957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320040" y="2715768"/>
            <a:ext cx="2240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11480" y="27157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Library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2560320" y="2715768"/>
            <a:ext cx="1078992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560320" y="27157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3639312" y="271576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639312" y="27157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4718304" y="271576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718304" y="27157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5797296" y="271576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797296" y="27157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6876288" y="271576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876288" y="27157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7955280" y="271576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955280" y="27157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320040" y="3035808"/>
            <a:ext cx="22402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11480" y="30358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Option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2560320" y="3035808"/>
            <a:ext cx="1078992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2560320" y="30358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3639312" y="303580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3639312" y="30358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4718304" y="303580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4718304" y="30358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5797296" y="303580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5797296" y="30358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6876288" y="303580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876288" y="30358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7955280" y="303580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7955280" y="30358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320040" y="3355848"/>
            <a:ext cx="2240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411480" y="33558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Web App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2560320" y="3355848"/>
            <a:ext cx="1078992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2560320" y="33558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3639312" y="335584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3639312" y="33558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4718304" y="335584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4718304" y="33558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5797296" y="335584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5797296" y="33558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6876288" y="335584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6876288" y="33558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7955280" y="335584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7955280" y="335584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320040" y="3675888"/>
            <a:ext cx="22402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411480" y="367588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 Mgmt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2560320" y="3675888"/>
            <a:ext cx="1078992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2560320" y="36758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3639312" y="367588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3639312" y="36758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4718304" y="367588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4718304" y="36758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5" name="Shape 123"/>
          <p:cNvSpPr/>
          <p:nvPr/>
        </p:nvSpPr>
        <p:spPr>
          <a:xfrm>
            <a:off x="5797296" y="367588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5797296" y="36758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6876288" y="367588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6876288" y="36758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29" name="Shape 127"/>
          <p:cNvSpPr/>
          <p:nvPr/>
        </p:nvSpPr>
        <p:spPr>
          <a:xfrm>
            <a:off x="7955280" y="367588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7955280" y="367588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31" name="Shape 129"/>
          <p:cNvSpPr/>
          <p:nvPr/>
        </p:nvSpPr>
        <p:spPr>
          <a:xfrm>
            <a:off x="320040" y="3995928"/>
            <a:ext cx="2240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411480" y="399592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Permissions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2560320" y="3995928"/>
            <a:ext cx="1078992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2560320" y="39959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5" name="Shape 133"/>
          <p:cNvSpPr/>
          <p:nvPr/>
        </p:nvSpPr>
        <p:spPr>
          <a:xfrm>
            <a:off x="3639312" y="399592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3639312" y="39959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7" name="Shape 135"/>
          <p:cNvSpPr/>
          <p:nvPr/>
        </p:nvSpPr>
        <p:spPr>
          <a:xfrm>
            <a:off x="4718304" y="399592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4718304" y="39959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39" name="Shape 137"/>
          <p:cNvSpPr/>
          <p:nvPr/>
        </p:nvSpPr>
        <p:spPr>
          <a:xfrm>
            <a:off x="5797296" y="399592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5797296" y="39959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41" name="Shape 139"/>
          <p:cNvSpPr/>
          <p:nvPr/>
        </p:nvSpPr>
        <p:spPr>
          <a:xfrm>
            <a:off x="6876288" y="399592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6876288" y="39959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7955280" y="399592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7955280" y="399592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45" name="Shape 143"/>
          <p:cNvSpPr/>
          <p:nvPr/>
        </p:nvSpPr>
        <p:spPr>
          <a:xfrm>
            <a:off x="320040" y="4315968"/>
            <a:ext cx="22402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411480" y="43159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Per-User Fees</a:t>
            </a:r>
            <a:endParaRPr lang="en-US" sz="1050" dirty="0"/>
          </a:p>
        </p:txBody>
      </p:sp>
      <p:sp>
        <p:nvSpPr>
          <p:cNvPr id="147" name="Shape 145"/>
          <p:cNvSpPr/>
          <p:nvPr/>
        </p:nvSpPr>
        <p:spPr>
          <a:xfrm>
            <a:off x="2560320" y="4315968"/>
            <a:ext cx="1078992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2560320" y="43159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9" name="Shape 147"/>
          <p:cNvSpPr/>
          <p:nvPr/>
        </p:nvSpPr>
        <p:spPr>
          <a:xfrm>
            <a:off x="3639312" y="431596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3639312" y="43159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51" name="Shape 149"/>
          <p:cNvSpPr/>
          <p:nvPr/>
        </p:nvSpPr>
        <p:spPr>
          <a:xfrm>
            <a:off x="4718304" y="431596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4718304" y="43159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53" name="Shape 151"/>
          <p:cNvSpPr/>
          <p:nvPr/>
        </p:nvSpPr>
        <p:spPr>
          <a:xfrm>
            <a:off x="5797296" y="431596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5797296" y="43159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55" name="Shape 153"/>
          <p:cNvSpPr/>
          <p:nvPr/>
        </p:nvSpPr>
        <p:spPr>
          <a:xfrm>
            <a:off x="6876288" y="431596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6876288" y="43159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57" name="Shape 155"/>
          <p:cNvSpPr/>
          <p:nvPr/>
        </p:nvSpPr>
        <p:spPr>
          <a:xfrm>
            <a:off x="7955280" y="4315968"/>
            <a:ext cx="107899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7955280" y="431596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59" name="Shape 157"/>
          <p:cNvSpPr/>
          <p:nvPr/>
        </p:nvSpPr>
        <p:spPr>
          <a:xfrm>
            <a:off x="320040" y="4636008"/>
            <a:ext cx="2240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411480" y="46360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Features</a:t>
            </a:r>
            <a:endParaRPr lang="en-US" sz="1050" dirty="0"/>
          </a:p>
        </p:txBody>
      </p:sp>
      <p:sp>
        <p:nvSpPr>
          <p:cNvPr id="161" name="Shape 159"/>
          <p:cNvSpPr/>
          <p:nvPr/>
        </p:nvSpPr>
        <p:spPr>
          <a:xfrm>
            <a:off x="2560320" y="4636008"/>
            <a:ext cx="1078992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2560320" y="46360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63" name="Shape 161"/>
          <p:cNvSpPr/>
          <p:nvPr/>
        </p:nvSpPr>
        <p:spPr>
          <a:xfrm>
            <a:off x="3639312" y="46360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62"/>
          <p:cNvSpPr/>
          <p:nvPr/>
        </p:nvSpPr>
        <p:spPr>
          <a:xfrm>
            <a:off x="3639312" y="46360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5" name="Shape 163"/>
          <p:cNvSpPr/>
          <p:nvPr/>
        </p:nvSpPr>
        <p:spPr>
          <a:xfrm>
            <a:off x="4718304" y="46360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164"/>
          <p:cNvSpPr/>
          <p:nvPr/>
        </p:nvSpPr>
        <p:spPr>
          <a:xfrm>
            <a:off x="4718304" y="46360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67" name="Shape 165"/>
          <p:cNvSpPr/>
          <p:nvPr/>
        </p:nvSpPr>
        <p:spPr>
          <a:xfrm>
            <a:off x="5797296" y="46360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166"/>
          <p:cNvSpPr/>
          <p:nvPr/>
        </p:nvSpPr>
        <p:spPr>
          <a:xfrm>
            <a:off x="5797296" y="46360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69" name="Shape 167"/>
          <p:cNvSpPr/>
          <p:nvPr/>
        </p:nvSpPr>
        <p:spPr>
          <a:xfrm>
            <a:off x="6876288" y="46360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168"/>
          <p:cNvSpPr/>
          <p:nvPr/>
        </p:nvSpPr>
        <p:spPr>
          <a:xfrm>
            <a:off x="6876288" y="46360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71" name="Shape 169"/>
          <p:cNvSpPr/>
          <p:nvPr/>
        </p:nvSpPr>
        <p:spPr>
          <a:xfrm>
            <a:off x="7955280" y="4636008"/>
            <a:ext cx="10789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170"/>
          <p:cNvSpPr/>
          <p:nvPr/>
        </p:nvSpPr>
        <p:spPr>
          <a:xfrm>
            <a:off x="7955280" y="4636008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73" name="Text 171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= Limited  |  Wooqer AI features include SensEye planogram AI, Lens SOP assistant, and Wally co-pilot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Benefit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users  ·  3-year total cost of ownership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2651760" cy="3767328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98755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Avg. Competitor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5727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$15,000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" y="2176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cost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487168"/>
            <a:ext cx="21031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$25/user/month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users = $1,250/mo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" y="3163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$15,000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0352" y="3456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$15,000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" y="422452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" y="4224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Total: $45,000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987552"/>
            <a:ext cx="2651760" cy="3767328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98755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98755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StorePrint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15727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$3,600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200400" y="2176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cost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2487168"/>
            <a:ext cx="21031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83280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~$300/mo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83280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per-user fees ever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83280" y="3163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$3,600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83280" y="3456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$3,600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37560" y="422452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37560" y="4224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Total: $10,800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53328" y="987552"/>
            <a:ext cx="2651760" cy="3767328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53328" y="98755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53328" y="98755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Savings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53328" y="15727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$34,200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053328" y="2176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savings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27648" y="2487168"/>
            <a:ext cx="21031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36208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saved: $11,400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36208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saved: $11,400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36208" y="3163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saved: $11,400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90488" y="422452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90488" y="4224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Cost Reduction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" y="4901184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Wooqer custom enterprise pricing est. $20–40/user/month — still 3–7× StorePrint infrastructure costs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on Investment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17043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Cost Savings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8424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$25–50/user/month licensing. For 50 users over 3 years: save $34,200+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117043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983480" y="16642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Savings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98424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GPS-verified auditing cuts admin time ~60%. Auto-scoring eliminates manual calculation.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31363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36301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Lift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95020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drives store compliance. Issues corrected same-day, not next week.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97180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31363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983480" y="36301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Efficiency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395020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 replaces 6+ separate tools. One login for all store operations.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Security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🔒  Self-Hosted Architecture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1741932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153619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containerised — deploy anywhere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2064" y="240030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219456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+ role permissions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852928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2064" y="305866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" y="2852928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geofencing per store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511296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2064" y="371703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3511296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on your servers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169664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2064" y="437540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" y="4169664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for performance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1024128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102412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📦  What's Included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15361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82896" y="166420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66360" y="1536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09160" y="2121408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82896" y="224942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66360" y="21214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file storage (S3-compatible)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09160" y="2706624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82896" y="28346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66360" y="270662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Meilisearch for fast search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09160" y="329184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82896" y="341985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66360" y="3291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Ntfy push notifications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09160" y="3877056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82896" y="400507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66360" y="387705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09160" y="446227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82896" y="459028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166360" y="44622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Docker Compose setup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Real Users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2651760" cy="3822192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16152" y="1170432"/>
            <a:ext cx="914400" cy="914400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16152" y="11704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" y="22128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Manager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87552" y="2651760"/>
            <a:ext cx="1371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283464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all stores from one screen. Reviews audit scores, tracks attendance across locations, manages rosters.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987552"/>
            <a:ext cx="2651760" cy="3822192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069080" y="1170432"/>
            <a:ext cx="914400" cy="914400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69080" y="11704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🏪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2128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Manager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40480" y="2651760"/>
            <a:ext cx="1371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0" y="283464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rosters, conducts audits, views live presence. Manages day-to-day store operations end-to-end.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53328" y="987552"/>
            <a:ext cx="2651760" cy="3822192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22008" y="1170432"/>
            <a:ext cx="914400" cy="914400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22008" y="11704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90488" y="22128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Staff / Auditor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693408" y="2651760"/>
            <a:ext cx="1371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36208" y="283464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Clocks in with GPS, fills audits on phone, views their roster. Simple and focused mobile interface.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iOS, Android, and Web Browser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98424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Expo/React Native — one codebase, three platforms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83480" y="17830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760720" y="16002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Tabs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0" y="198424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modules shown clearly per user role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33375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GPS-Native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72160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location, all device features built-in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06324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83480" y="352044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760720" y="33375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0720" y="372160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— works in any browser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&amp; Onboarding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1024128"/>
            <a:ext cx="868680" cy="868680"/>
          </a:xfrm>
          <a:prstGeom prst="ellipse">
            <a:avLst/>
          </a:prstGeom>
          <a:solidFill>
            <a:srgbClr val="0F234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0241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737360" y="1458468"/>
            <a:ext cx="7315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Deploy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724912"/>
            <a:ext cx="19202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1208" y="289864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4088" y="2788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" y="337413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4088" y="326440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" y="384962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088" y="3739896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configuration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17520" y="1024128"/>
            <a:ext cx="868680" cy="868680"/>
          </a:xfrm>
          <a:prstGeom prst="ellipse">
            <a:avLst/>
          </a:prstGeom>
          <a:solidFill>
            <a:srgbClr val="0F234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17520" y="10241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886200" y="1458468"/>
            <a:ext cx="7315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14600" y="2724912"/>
            <a:ext cx="19202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670048" y="289864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52928" y="2788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stores &amp; users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70048" y="337413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52928" y="326440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permissions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70048" y="384962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852928" y="3739896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audit templates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66360" y="1024128"/>
            <a:ext cx="868680" cy="868680"/>
          </a:xfrm>
          <a:prstGeom prst="ellipse">
            <a:avLst/>
          </a:prstGeom>
          <a:solidFill>
            <a:srgbClr val="0F234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66360" y="10241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035040" y="1458468"/>
            <a:ext cx="7315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2724912"/>
            <a:ext cx="19202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18888" y="289864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01768" y="2788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managers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18888" y="337413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01768" y="326440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audit run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18888" y="384962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01768" y="3739896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calibration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15200" y="1024128"/>
            <a:ext cx="868680" cy="86868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315200" y="10241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85800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12280" y="2724912"/>
            <a:ext cx="19202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967728" y="289864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50608" y="2788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rollout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967728" y="337413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50608" y="326440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active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967728" y="384962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150608" y="3739896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live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0040" y="4590288"/>
            <a:ext cx="850392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11480" y="459028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Full deployment completed within 4 weeks  ·  Dedicated onboarding support included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51760" cy="4041648"/>
          </a:xfrm>
          <a:prstGeom prst="roundRect">
            <a:avLst>
              <a:gd name="adj" fmla="val 3448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475488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— Live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6384" y="153619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Hub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6384" y="204825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Auditing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67004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6384" y="256032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Attendance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182112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6384" y="307238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Management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69417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" y="358444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Operations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420624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6384" y="409651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71830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6384" y="460857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18688" y="960120"/>
            <a:ext cx="2651760" cy="4041648"/>
          </a:xfrm>
          <a:prstGeom prst="roundRect">
            <a:avLst>
              <a:gd name="adj" fmla="val 3448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18688" y="960120"/>
            <a:ext cx="2651760" cy="475488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18688" y="9601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— Q3 2026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19856" y="164592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39312" y="153619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on publish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9856" y="215798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39312" y="204825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photo upload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19856" y="267004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39312" y="256032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trend charts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19856" y="3182112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39312" y="307238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swap approvals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19856" y="369417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39312" y="358444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(basic)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71616" y="960120"/>
            <a:ext cx="2651760" cy="4041648"/>
          </a:xfrm>
          <a:prstGeom prst="roundRect">
            <a:avLst>
              <a:gd name="adj" fmla="val 3448"/>
            </a:avLst>
          </a:prstGeom>
          <a:solidFill>
            <a:srgbClr val="1E3A5F"/>
          </a:solidFill>
          <a:ln w="12700">
            <a:solidFill>
              <a:srgbClr val="A78BF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71616" y="960120"/>
            <a:ext cx="2651760" cy="475488"/>
          </a:xfrm>
          <a:prstGeom prst="roundRect">
            <a:avLst>
              <a:gd name="adj" fmla="val 19231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71616" y="9601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— Q4 2026+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72784" y="164592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92240" y="153619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insights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72784" y="215798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92240" y="204825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support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72784" y="267004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92240" y="256032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 integration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72784" y="3182112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92240" y="307238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planogram checking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72784" y="369417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92240" y="358444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Choose StorePrint?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129284"/>
            <a:ext cx="448056" cy="448056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129284"/>
            <a:ext cx="44805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10698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All-in-One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3716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 replacing 6+ separate tools. One login, complete visibility.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80136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" y="1906524"/>
            <a:ext cx="448056" cy="448056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1906524"/>
            <a:ext cx="44805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8992" y="1847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 Cost Reduction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21488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infrastructure only. No per-user licensing fees ever.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57860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" y="2683764"/>
            <a:ext cx="448056" cy="448056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2683764"/>
            <a:ext cx="44805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26243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GPS-First Design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29260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clock-in, audit start, and submission geo-verified at the store.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35584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" y="3461004"/>
            <a:ext cx="448056" cy="448056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3461004"/>
            <a:ext cx="44805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8992" y="34015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Sovereignty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37033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on your servers. No third-party cloud. Full compliance control.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413308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" y="4238244"/>
            <a:ext cx="448056" cy="448056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4238244"/>
            <a:ext cx="44805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78992" y="4178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Scale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78992" y="4480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architecture scales from 10 to 10,000 users with no cost increase.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StorePrint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Complete Store Control.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029968"/>
            <a:ext cx="27432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0" y="237744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0" y="237744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Demo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0" y="3127248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11680" y="312724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Technical Documentation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3877056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0" y="3877056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Pilot Deployment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brands that demand excellence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1630</Words>
  <Application>Microsoft Office PowerPoint</Application>
  <PresentationFormat>On-screen Show (16:9)</PresentationFormat>
  <Paragraphs>566</Paragraphs>
  <Slides>25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StorePrint - Brand Store Management Platform</dc:title>
  <dc:subject>PptxGenJS Presentation</dc:subject>
  <dc:creator>PptxGenJS</dc:creator>
  <cp:lastModifiedBy>Muhammad Khalilullah</cp:lastModifiedBy>
  <cp:revision>2</cp:revision>
  <dcterms:created xsi:type="dcterms:W3CDTF">2026-06-16T06:08:49Z</dcterms:created>
  <dcterms:modified xsi:type="dcterms:W3CDTF">2026-07-14T08:55:05Z</dcterms:modified>
</cp:coreProperties>
</file>