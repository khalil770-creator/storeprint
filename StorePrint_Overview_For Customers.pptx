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79" r:id="rId22"/>
    <p:sldId id="280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4626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73152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80960" y="2011680"/>
            <a:ext cx="1828800" cy="182880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StorePrint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502920" y="2029968"/>
            <a:ext cx="128016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17627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Store Management Platform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 ·  Audit  ·  Operate  ·  Grow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749040"/>
            <a:ext cx="5029200" cy="36576"/>
          </a:xfrm>
          <a:prstGeom prst="rect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38587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Presentation  | 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4389120"/>
            <a:ext cx="1316736" cy="256032"/>
          </a:xfrm>
          <a:prstGeom prst="roundRect">
            <a:avLst>
              <a:gd name="adj" fmla="val 14286"/>
            </a:avLst>
          </a:prstGeom>
          <a:solidFill>
            <a:srgbClr val="1A3460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438912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Hub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938528" y="4389120"/>
            <a:ext cx="1316736" cy="256032"/>
          </a:xfrm>
          <a:prstGeom prst="roundRect">
            <a:avLst>
              <a:gd name="adj" fmla="val 14286"/>
            </a:avLst>
          </a:prstGeom>
          <a:solidFill>
            <a:srgbClr val="1A3460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938528" y="438912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Auditing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374136" y="4389120"/>
            <a:ext cx="1316736" cy="256032"/>
          </a:xfrm>
          <a:prstGeom prst="roundRect">
            <a:avLst>
              <a:gd name="adj" fmla="val 14286"/>
            </a:avLst>
          </a:prstGeom>
          <a:solidFill>
            <a:srgbClr val="1A3460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74136" y="438912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09744" y="4389120"/>
            <a:ext cx="1316736" cy="256032"/>
          </a:xfrm>
          <a:prstGeom prst="roundRect">
            <a:avLst>
              <a:gd name="adj" fmla="val 14286"/>
            </a:avLst>
          </a:prstGeom>
          <a:solidFill>
            <a:srgbClr val="1A3460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9744" y="438912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45352" y="4389120"/>
            <a:ext cx="1316736" cy="256032"/>
          </a:xfrm>
          <a:prstGeom prst="roundRect">
            <a:avLst>
              <a:gd name="adj" fmla="val 14286"/>
            </a:avLst>
          </a:prstGeom>
          <a:solidFill>
            <a:srgbClr val="1A3460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45352" y="438912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680960" y="4389120"/>
            <a:ext cx="1316736" cy="256032"/>
          </a:xfrm>
          <a:prstGeom prst="roundRect">
            <a:avLst>
              <a:gd name="adj" fmla="val 14286"/>
            </a:avLst>
          </a:prstGeom>
          <a:solidFill>
            <a:srgbClr val="1A3460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80960" y="438912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 Facing Multi-Store Brands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2062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206240" cy="54864"/>
          </a:xfrm>
          <a:prstGeom prst="roundRect">
            <a:avLst>
              <a:gd name="adj" fmla="val 6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243584"/>
            <a:ext cx="475488" cy="475488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2435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24712" y="124358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Operations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24712" y="1554480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platform to manage compliance, attendance, assets and communication across all stores.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78992"/>
            <a:ext cx="42062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078992"/>
            <a:ext cx="4206240" cy="54864"/>
          </a:xfrm>
          <a:prstGeom prst="roundRect">
            <a:avLst>
              <a:gd name="adj" fmla="val 6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37760" y="1243584"/>
            <a:ext cx="475488" cy="475488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12435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59552" y="124358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Auditing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59552" y="1554480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checklists, inconsistent standards, no GPS verification or automated scoring.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53512"/>
            <a:ext cx="42062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953512"/>
            <a:ext cx="4206240" cy="54864"/>
          </a:xfrm>
          <a:prstGeom prst="roundRect">
            <a:avLst>
              <a:gd name="adj" fmla="val 6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2920" y="3118104"/>
            <a:ext cx="475488" cy="475488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1181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24712" y="311810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Gaps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24712" y="3429000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of who is on the floor. Clock-ins unverified and unreliable.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953512"/>
            <a:ext cx="42062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2953512"/>
            <a:ext cx="4206240" cy="54864"/>
          </a:xfrm>
          <a:prstGeom prst="roundRect">
            <a:avLst>
              <a:gd name="adj" fmla="val 6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937760" y="3118104"/>
            <a:ext cx="475488" cy="475488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31181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💸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59552" y="311810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SaaS Costs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59552" y="3429000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platforms charge $15–50/user/month with limited customisation or data control.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StorePrint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Seven modules. Complete store control.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iOS, Android &amp; Web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Staff, managers, auditors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50876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0" y="16642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83280" y="22402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Portal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265176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brand oversight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50876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16642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17920" y="22402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Backend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265176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scalable, yours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8229600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 ·  Node.js  ·  PostgreSQL  ·  Docker  ·  Self-Hosted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Integrated Modules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15727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Hub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86537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library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68880" y="109728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68880" y="15727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186537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GPS-verified compliance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96012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109728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15727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186537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presence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96012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66560" y="109728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66560" y="15727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66560" y="186537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management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44752" y="2633472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44752" y="278892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🏪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44752" y="326440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Ops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44752" y="3566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operational modules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93592" y="2633472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93592" y="278892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593592" y="326440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93592" y="3566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insights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42432" y="2633472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742432" y="278892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742432" y="326440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742432" y="3566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brand control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is independently accessible via role-based permissions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Hub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Digital Asset Library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7548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2064" y="135788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1143000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guidelines, logos and campaigns in one place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819656"/>
            <a:ext cx="47548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12064" y="2034540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1819656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images, PDFs and documents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496312"/>
            <a:ext cx="47548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12064" y="2711196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2496312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Category-based organisation and search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172968"/>
            <a:ext cx="47548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2064" y="3387852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3172968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WhatsApp &amp; email sharing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849624"/>
            <a:ext cx="47548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12064" y="4064508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9808" y="3849624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per module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22402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Hub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14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0D29369-69D5-DC6F-65CC-543824A5D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6690" y="973603"/>
            <a:ext cx="2862950" cy="34831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Compliance Auditing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GPS-verified, scored, automated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Form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94760" y="1078992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977640" y="126187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977640" y="1261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98848" y="115214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Templates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98848" y="144475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Yes/No, Photo, Score 1–5, Free Text question types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94760" y="1984248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977640" y="216712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977640" y="2167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98848" y="20574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Scoring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98848" y="235000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carries a weight multiplier (1–5×)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94760" y="2889504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977640" y="3072384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977640" y="30723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98848" y="296265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 Enforcement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498848" y="325526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must be physically at store to submit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794760" y="3794760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977640" y="397764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97764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498848" y="386791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Corrective Actions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498848" y="416052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failures instantly create assigned action items</a:t>
            </a:r>
            <a:endParaRPr lang="en-US" sz="11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D7E71C64-564D-A489-E7B3-AA3DE568A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04" y="932688"/>
            <a:ext cx="3141036" cy="38197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Workflow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1188720"/>
            <a:ext cx="822960" cy="822960"/>
          </a:xfrm>
          <a:prstGeom prst="ellipse">
            <a:avLst/>
          </a:prstGeom>
          <a:solidFill>
            <a:srgbClr val="0F2342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188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Builds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5920" y="1600200"/>
            <a:ext cx="78638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32304" y="1188720"/>
            <a:ext cx="822960" cy="822960"/>
          </a:xfrm>
          <a:prstGeom prst="ellipse">
            <a:avLst/>
          </a:prstGeom>
          <a:solidFill>
            <a:srgbClr val="0F2342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32304" y="1188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57984" y="2103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Selects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55264" y="1600200"/>
            <a:ext cx="78638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41648" y="1188720"/>
            <a:ext cx="822960" cy="822960"/>
          </a:xfrm>
          <a:prstGeom prst="ellipse">
            <a:avLst/>
          </a:prstGeom>
          <a:solidFill>
            <a:srgbClr val="0F2342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41648" y="1188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67328" y="2103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64608" y="1600200"/>
            <a:ext cx="78638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50992" y="1188720"/>
            <a:ext cx="822960" cy="822960"/>
          </a:xfrm>
          <a:prstGeom prst="ellipse">
            <a:avLst/>
          </a:prstGeom>
          <a:solidFill>
            <a:srgbClr val="0F2342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50992" y="1188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76672" y="2103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Verified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73952" y="1600200"/>
            <a:ext cx="78638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260336" y="1188720"/>
            <a:ext cx="822960" cy="82296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60336" y="1188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86016" y="2103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Report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0175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3200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8640" y="37673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Auto-weighted Scoring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4114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manual calculation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30175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91840" y="3200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3429000" y="37673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 Timestamped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29000" y="4114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submission geo-verified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30175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72200" y="3200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309360" y="37673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Corrective Actions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09360" y="4114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fails auto-assigned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Attendance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GPS-verified presence management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7548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2064" y="1330452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1115568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clock in/out — verified against store geofence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792224"/>
            <a:ext cx="47548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12064" y="2007108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1792224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live presence dashboard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468880"/>
            <a:ext cx="47548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12064" y="268376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2468880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arrival &amp; early exit detection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145536"/>
            <a:ext cx="47548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2064" y="3360420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3145536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attendance log with timestamps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822192"/>
            <a:ext cx="47548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12064" y="4037076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9808" y="3822192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tracking: Present / Late / Absent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49240" y="987552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0F2342"/>
          </a:solidFill>
          <a:ln w="12700">
            <a:solidFill>
              <a:srgbClr val="1A346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49240" y="11430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Presence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0" y="1664208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1E3A5F"/>
          </a:solidFill>
          <a:ln w="12700">
            <a:solidFill>
              <a:srgbClr val="1A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596128" y="1746504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97880" y="166420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R.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0" y="166420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2157984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1E3A5F"/>
          </a:solidFill>
          <a:ln w="12700">
            <a:solidFill>
              <a:srgbClr val="1A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596128" y="2240280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897880" y="215798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K.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0" y="215798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0" y="2651760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1E3A5F"/>
          </a:solidFill>
          <a:ln w="12700">
            <a:solidFill>
              <a:srgbClr val="1A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596128" y="2734056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897880" y="26517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M.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0" y="26517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0" y="3145536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1E3A5F"/>
          </a:solidFill>
          <a:ln w="12700">
            <a:solidFill>
              <a:srgbClr val="1A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596128" y="322783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897880" y="314553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Nadia T.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0" y="314553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0" y="3639312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1E3A5F"/>
          </a:solidFill>
          <a:ln w="12700">
            <a:solidFill>
              <a:srgbClr val="1A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596128" y="3721608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897880" y="363931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Usman F.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15200" y="363931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0" y="4133088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1E3A5F"/>
          </a:solidFill>
          <a:ln w="12700">
            <a:solidFill>
              <a:srgbClr val="1A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596128" y="4215384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897880" y="41330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Rizwan S.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15200" y="413308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394960" y="4645152"/>
            <a:ext cx="1051560" cy="420624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394960" y="4645152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Present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537960" y="4645152"/>
            <a:ext cx="1051560" cy="420624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537960" y="4645152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Late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680960" y="4645152"/>
            <a:ext cx="1051560" cy="420624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680960" y="4645152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Absent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Roster Management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Roster 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45059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– Morning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3511296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– Morning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23360" y="987552"/>
            <a:ext cx="480060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023360" y="987552"/>
            <a:ext cx="4800600" cy="384048"/>
          </a:xfrm>
          <a:prstGeom prst="roundRect">
            <a:avLst>
              <a:gd name="adj" fmla="val 19048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023360" y="98755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👔  For Managers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06240" y="1572768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34840" y="146304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weekly/monthly rosters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06240" y="1901952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34840" y="1792224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shifts: date, time, role, zone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06240" y="2231136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34840" y="2121408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Draft-to-Publish workflow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06240" y="2560320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34840" y="2450592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/ Evening classification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023360" y="3044952"/>
            <a:ext cx="480060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023360" y="3044952"/>
            <a:ext cx="4800600" cy="384048"/>
          </a:xfrm>
          <a:prstGeom prst="roundRect">
            <a:avLst>
              <a:gd name="adj" fmla="val 19048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023360" y="304495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🧑‍💼  For Staff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206240" y="3630168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434840" y="352044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Shifts view — upcoming &amp; past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06240" y="3959352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434840" y="3849624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visibility on roster publish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06240" y="4288536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434840" y="4178808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hours display</a:t>
            </a:r>
            <a:endParaRPr lang="en-US" sz="11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55FB92CB-61AA-4FF4-AF25-7B118FEBA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84" y="953390"/>
            <a:ext cx="3101897" cy="38082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Operations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operational modules in one tab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🖼️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7922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Merchandising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305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Planogram compliance &amp; VM tasks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78992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126187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📣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37560" y="17922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1305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rollout tracking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078992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80760" y="126187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🪧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17920" y="17922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1305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signage compliance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907792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09067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57200" y="36210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9593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onboarding &amp; certification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2907792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0" y="309067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🏗️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337560" y="36210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37560" y="39593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condition checks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2907792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80760" y="309067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217920" y="36210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Experience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39593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surveys &amp; feedback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&amp; Insights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5361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Scores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% by store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024128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68880" y="1097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68880" y="15361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1828800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presence data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024128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17720" y="1097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17720" y="15361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1828800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stores side by side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1024128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0" y="1097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66560" y="15361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66560" y="1828800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standard adherence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377440"/>
            <a:ext cx="850392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2514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Compliance Scores — Last 30 Days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264408"/>
            <a:ext cx="822960" cy="1261872"/>
          </a:xfrm>
          <a:prstGeom prst="roundRect">
            <a:avLst>
              <a:gd name="adj" fmla="val 444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29900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5720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011680" y="3332988"/>
            <a:ext cx="822960" cy="1193292"/>
          </a:xfrm>
          <a:prstGeom prst="roundRect">
            <a:avLst>
              <a:gd name="adj" fmla="val 444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011680" y="30586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20240" y="45720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Clifton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83280" y="3223260"/>
            <a:ext cx="822960" cy="1303020"/>
          </a:xfrm>
          <a:prstGeom prst="roundRect">
            <a:avLst>
              <a:gd name="adj" fmla="val 444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83280" y="29489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91840" y="45720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Gulshan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456432"/>
            <a:ext cx="822960" cy="1069848"/>
          </a:xfrm>
          <a:prstGeom prst="roundRect">
            <a:avLst>
              <a:gd name="adj" fmla="val 444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31821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63440" y="45720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PECHS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3552444"/>
            <a:ext cx="822960" cy="973836"/>
          </a:xfrm>
          <a:prstGeom prst="roundRect">
            <a:avLst>
              <a:gd name="adj" fmla="val 4444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26480" y="327812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45720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Saddar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498080" y="3319272"/>
            <a:ext cx="822960" cy="1207008"/>
          </a:xfrm>
          <a:prstGeom prst="roundRect">
            <a:avLst>
              <a:gd name="adj" fmla="val 444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498080" y="30449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06640" y="45720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Bahadurabad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Web Portal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brand oversight from a browser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2651760" cy="3822192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24128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02412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👤  User Management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" y="182880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0936" y="206654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18288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users &amp; assign roles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" y="256032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0936" y="279806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256032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granular permissions per module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" y="329184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" y="352958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2918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Active/inactive status control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1024128"/>
            <a:ext cx="2651760" cy="3822192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0" y="1024128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0" y="102412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🏪  Store Management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64992" y="182880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511296" y="206654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49040" y="18288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geofence setup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64992" y="256032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511296" y="279806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749040" y="256032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hierarchy &amp; zoning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64992" y="329184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511296" y="352958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749040" y="32918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assignment &amp; status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0760" y="1024128"/>
            <a:ext cx="2651760" cy="3822192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80760" y="1024128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80760" y="102412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📝  Audit Builder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45352" y="182880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91656" y="206654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629400" y="18288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templates with categories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45352" y="256032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391656" y="279806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629400" y="256032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question weights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45352" y="329184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391656" y="352958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629400" y="32918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&amp; manage templates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Granular Role-Based Access Control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1828800" cy="38404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2412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1024128"/>
            <a:ext cx="960120" cy="38404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48840" y="10241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Hub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54680" y="1024128"/>
            <a:ext cx="960120" cy="38404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54680" y="10241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60520" y="1024128"/>
            <a:ext cx="960120" cy="38404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60520" y="10241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66360" y="1024128"/>
            <a:ext cx="960120" cy="38404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66360" y="10241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72200" y="1024128"/>
            <a:ext cx="960120" cy="38404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72200" y="10241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178040" y="1024128"/>
            <a:ext cx="960120" cy="38404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78040" y="10241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183880" y="1024128"/>
            <a:ext cx="960120" cy="38404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83880" y="10241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1408176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" y="1408176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48840" y="140817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240280" y="149961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40280" y="14996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54680" y="140817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46120" y="149961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46120" y="14996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60520" y="140817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251960" y="149961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251960" y="14996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166360" y="140817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257800" y="149961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257800" y="14996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72200" y="140817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63640" y="149961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63640" y="14996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178040" y="140817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269480" y="149961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269480" y="14996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183880" y="140817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275320" y="149961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275320" y="14996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" y="1956816"/>
            <a:ext cx="182880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84048" y="1956816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Manager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148840" y="195681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240280" y="204825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240280" y="204825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154680" y="195681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246120" y="204825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246120" y="204825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160520" y="195681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251960" y="204825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251960" y="204825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166360" y="195681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257800" y="204825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257800" y="204825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72200" y="195681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263640" y="204825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263640" y="204825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178040" y="195681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7269480" y="204825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269480" y="204825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183880" y="195681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275320" y="204825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275320" y="204825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20040" y="2505456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84048" y="2505456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Manager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148840" y="250545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240280" y="259689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2240280" y="259689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154680" y="250545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3246120" y="259689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3246120" y="259689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160520" y="250545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4251960" y="259689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251960" y="259689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166360" y="250545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5257800" y="259689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5257800" y="259689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172200" y="250545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6263640" y="259689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6263640" y="259689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7178040" y="250545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7269480" y="259689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7269480" y="259689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8183880" y="250545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8275320" y="259689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8275320" y="259689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320040" y="3054096"/>
            <a:ext cx="182880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384048" y="3054096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2148840" y="305409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2240280" y="314553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2240280" y="314553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3154680" y="305409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3246120" y="314553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3246120" y="314553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4160520" y="305409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4251960" y="314553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4251960" y="314553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5166360" y="305409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5257800" y="314553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5257800" y="314553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172200" y="305409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6263640" y="314553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6263640" y="314553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7178040" y="305409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7269480" y="314553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7269480" y="314553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8183880" y="305409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8275320" y="314553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8275320" y="314553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320040" y="3602736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384048" y="3602736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Staff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2148840" y="360273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2240280" y="369417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2240280" y="369417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3154680" y="360273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3246120" y="369417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3246120" y="369417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4160520" y="360273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4251960" y="369417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4251960" y="369417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5166360" y="360273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5257800" y="369417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5257800" y="369417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6172200" y="360273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6263640" y="369417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6263640" y="369417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7178040" y="360273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7269480" y="369417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7269480" y="369417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8183880" y="360273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8275320" y="369417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8275320" y="369417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320040" y="4151376"/>
            <a:ext cx="182880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384048" y="4151376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100" dirty="0"/>
          </a:p>
        </p:txBody>
      </p:sp>
      <p:sp>
        <p:nvSpPr>
          <p:cNvPr id="138" name="Shape 136"/>
          <p:cNvSpPr/>
          <p:nvPr/>
        </p:nvSpPr>
        <p:spPr>
          <a:xfrm>
            <a:off x="2148840" y="415137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2240280" y="424281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8"/>
          <p:cNvSpPr/>
          <p:nvPr/>
        </p:nvSpPr>
        <p:spPr>
          <a:xfrm>
            <a:off x="2240280" y="42428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3154680" y="415137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3246120" y="424281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/>
          <p:nvPr/>
        </p:nvSpPr>
        <p:spPr>
          <a:xfrm>
            <a:off x="3246120" y="42428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4160520" y="415137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4251960" y="424281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4251960" y="42428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5166360" y="415137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5257800" y="424281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147"/>
          <p:cNvSpPr/>
          <p:nvPr/>
        </p:nvSpPr>
        <p:spPr>
          <a:xfrm>
            <a:off x="5257800" y="42428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6172200" y="415137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6263640" y="424281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150"/>
          <p:cNvSpPr/>
          <p:nvPr/>
        </p:nvSpPr>
        <p:spPr>
          <a:xfrm>
            <a:off x="6263640" y="42428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7178040" y="415137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7269480" y="424281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Text 153"/>
          <p:cNvSpPr/>
          <p:nvPr/>
        </p:nvSpPr>
        <p:spPr>
          <a:xfrm>
            <a:off x="7269480" y="42428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56" name="Shape 154"/>
          <p:cNvSpPr/>
          <p:nvPr/>
        </p:nvSpPr>
        <p:spPr>
          <a:xfrm>
            <a:off x="8183880" y="415137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8275320" y="424281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Text 156"/>
          <p:cNvSpPr/>
          <p:nvPr/>
        </p:nvSpPr>
        <p:spPr>
          <a:xfrm>
            <a:off x="8275320" y="42428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320040" y="4773168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 158"/>
          <p:cNvSpPr/>
          <p:nvPr/>
        </p:nvSpPr>
        <p:spPr>
          <a:xfrm>
            <a:off x="32004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2331720" y="4773168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160"/>
          <p:cNvSpPr/>
          <p:nvPr/>
        </p:nvSpPr>
        <p:spPr>
          <a:xfrm>
            <a:off x="233172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Only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4343400" y="4773168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Text 162"/>
          <p:cNvSpPr/>
          <p:nvPr/>
        </p:nvSpPr>
        <p:spPr>
          <a:xfrm>
            <a:off x="43434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Market Comparison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StorePrint vs. established players — including AI-powered platforms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5039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36576"/>
          </a:xfrm>
          <a:prstGeom prst="roundRect">
            <a:avLst>
              <a:gd name="adj" fmla="val 10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4048" y="1078992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0789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COMPETITOR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04288" y="1078992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04288" y="10789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Wooqer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377440" y="137160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frontline OS — audits, tasks, SensEye planogram AI, Lens SOP assistant, Wally co-pilot. 450+ enterprise clients worldwide.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0" y="1353312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49440" y="13533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pricing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49440" y="166420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$20–40/user/mo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3774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450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Bindy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272491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audit &amp; task mgmt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54096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05409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$25–40/user/mo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23774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37560" y="2450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GoSpotCheck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337560" y="272491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execution (now Movista)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3054096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37560" y="305409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$30–50/user/mo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80760" y="23774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17920" y="2450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Reflexis / Zebra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17920" y="272491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workforce mgmt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3054096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17920" y="305409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$20–35/user/mo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3547872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36210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Tulip Retail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389534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ops — no GPS auditing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224528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22452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$40–60/user/mo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0" y="3547872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37560" y="36210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StoreForce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337560" y="389534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workforce — scheduling only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337560" y="4224528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337560" y="422452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$15–25/user/mo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080760" y="3547872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217920" y="36210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Axonify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217920" y="389534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training — single module only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17920" y="4224528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17920" y="422452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$10–20/user/mo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4681728"/>
            <a:ext cx="8503920" cy="329184"/>
          </a:xfrm>
          <a:prstGeom prst="roundRect">
            <a:avLst>
              <a:gd name="adj" fmla="val 16667"/>
            </a:avLst>
          </a:prstGeom>
          <a:solidFill>
            <a:srgbClr val="0F2342"/>
          </a:solidFill>
          <a:ln w="19050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11480" y="4681728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StorePrint  |  Self-Hosted  |  No Per-User Fees  |  7 Integrated Modules  |  GPS-First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Comparison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0" y="1024128"/>
            <a:ext cx="1078992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0" y="1024128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StorePrint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39312" y="1024128"/>
            <a:ext cx="1078992" cy="41148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39312" y="1024128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Wooqer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18304" y="1024128"/>
            <a:ext cx="1078992" cy="41148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18304" y="1024128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797296" y="1024128"/>
            <a:ext cx="1078992" cy="41148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97296" y="1024128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GoSpotCheck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76288" y="1024128"/>
            <a:ext cx="1078992" cy="41148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76288" y="1024128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955280" y="1024128"/>
            <a:ext cx="1078992" cy="41148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55280" y="1024128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Tulip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1024128"/>
            <a:ext cx="2240280" cy="41148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102412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1435608"/>
            <a:ext cx="2240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14356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GPS-Verified Auditing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0" y="1435608"/>
            <a:ext cx="1078992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560320" y="14356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39312" y="143560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39312" y="14356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18304" y="143560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18304" y="14356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797296" y="143560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797296" y="14356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76288" y="143560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76288" y="14356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955280" y="143560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955280" y="14356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0040" y="1755648"/>
            <a:ext cx="22402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" y="175564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Evidence in Audits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560320" y="1755648"/>
            <a:ext cx="1078992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560320" y="175564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639312" y="175564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39312" y="175564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718304" y="175564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18304" y="175564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797296" y="175564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797296" y="175564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876288" y="175564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876288" y="175564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955280" y="175564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955280" y="175564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20040" y="2075688"/>
            <a:ext cx="2240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11480" y="207568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Clock In/Out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560320" y="2075688"/>
            <a:ext cx="1078992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560320" y="207568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3639312" y="207568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639312" y="207568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718304" y="207568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718304" y="207568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797296" y="207568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797296" y="207568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876288" y="207568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876288" y="207568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7955280" y="207568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955280" y="207568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320040" y="2395728"/>
            <a:ext cx="22402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11480" y="239572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/ Shift Management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2560320" y="2395728"/>
            <a:ext cx="1078992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2560320" y="239572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3639312" y="239572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639312" y="239572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4718304" y="239572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718304" y="239572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5797296" y="239572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797296" y="239572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6876288" y="239572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876288" y="239572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7955280" y="239572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955280" y="239572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320040" y="2715768"/>
            <a:ext cx="2240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11480" y="271576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Library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2560320" y="2715768"/>
            <a:ext cx="1078992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2560320" y="271576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3639312" y="271576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639312" y="271576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4718304" y="271576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4718304" y="271576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5797296" y="271576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5797296" y="271576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6876288" y="271576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876288" y="271576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7955280" y="271576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7955280" y="271576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320040" y="3035808"/>
            <a:ext cx="22402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411480" y="30358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Option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2560320" y="3035808"/>
            <a:ext cx="1078992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2560320" y="30358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3639312" y="303580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3639312" y="30358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4718304" y="303580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4718304" y="30358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5797296" y="303580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5797296" y="30358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6876288" y="303580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6876288" y="30358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7955280" y="303580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7955280" y="30358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320040" y="3355848"/>
            <a:ext cx="2240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411480" y="335584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+ Web App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2560320" y="3355848"/>
            <a:ext cx="1078992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2560320" y="335584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3639312" y="335584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3639312" y="335584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4718304" y="335584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4718304" y="335584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1" name="Shape 109"/>
          <p:cNvSpPr/>
          <p:nvPr/>
        </p:nvSpPr>
        <p:spPr>
          <a:xfrm>
            <a:off x="5797296" y="335584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5797296" y="335584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3" name="Shape 111"/>
          <p:cNvSpPr/>
          <p:nvPr/>
        </p:nvSpPr>
        <p:spPr>
          <a:xfrm>
            <a:off x="6876288" y="335584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6876288" y="335584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7955280" y="335584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7955280" y="335584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7" name="Shape 115"/>
          <p:cNvSpPr/>
          <p:nvPr/>
        </p:nvSpPr>
        <p:spPr>
          <a:xfrm>
            <a:off x="320040" y="3675888"/>
            <a:ext cx="22402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411480" y="367588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 Mgmt</a:t>
            </a:r>
            <a:endParaRPr lang="en-US" sz="1050" dirty="0"/>
          </a:p>
        </p:txBody>
      </p:sp>
      <p:sp>
        <p:nvSpPr>
          <p:cNvPr id="119" name="Shape 117"/>
          <p:cNvSpPr/>
          <p:nvPr/>
        </p:nvSpPr>
        <p:spPr>
          <a:xfrm>
            <a:off x="2560320" y="3675888"/>
            <a:ext cx="1078992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2560320" y="367588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3639312" y="367588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3639312" y="367588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3" name="Shape 121"/>
          <p:cNvSpPr/>
          <p:nvPr/>
        </p:nvSpPr>
        <p:spPr>
          <a:xfrm>
            <a:off x="4718304" y="367588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4718304" y="367588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5" name="Shape 123"/>
          <p:cNvSpPr/>
          <p:nvPr/>
        </p:nvSpPr>
        <p:spPr>
          <a:xfrm>
            <a:off x="5797296" y="367588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5797296" y="367588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7" name="Shape 125"/>
          <p:cNvSpPr/>
          <p:nvPr/>
        </p:nvSpPr>
        <p:spPr>
          <a:xfrm>
            <a:off x="6876288" y="367588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6876288" y="367588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29" name="Shape 127"/>
          <p:cNvSpPr/>
          <p:nvPr/>
        </p:nvSpPr>
        <p:spPr>
          <a:xfrm>
            <a:off x="7955280" y="367588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7955280" y="367588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31" name="Shape 129"/>
          <p:cNvSpPr/>
          <p:nvPr/>
        </p:nvSpPr>
        <p:spPr>
          <a:xfrm>
            <a:off x="320040" y="3995928"/>
            <a:ext cx="2240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411480" y="399592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Permissions</a:t>
            </a:r>
            <a:endParaRPr lang="en-US" sz="1050" dirty="0"/>
          </a:p>
        </p:txBody>
      </p:sp>
      <p:sp>
        <p:nvSpPr>
          <p:cNvPr id="133" name="Shape 131"/>
          <p:cNvSpPr/>
          <p:nvPr/>
        </p:nvSpPr>
        <p:spPr>
          <a:xfrm>
            <a:off x="2560320" y="3995928"/>
            <a:ext cx="1078992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2560320" y="399592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5" name="Shape 133"/>
          <p:cNvSpPr/>
          <p:nvPr/>
        </p:nvSpPr>
        <p:spPr>
          <a:xfrm>
            <a:off x="3639312" y="399592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/>
          <p:nvPr/>
        </p:nvSpPr>
        <p:spPr>
          <a:xfrm>
            <a:off x="3639312" y="399592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7" name="Shape 135"/>
          <p:cNvSpPr/>
          <p:nvPr/>
        </p:nvSpPr>
        <p:spPr>
          <a:xfrm>
            <a:off x="4718304" y="399592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136"/>
          <p:cNvSpPr/>
          <p:nvPr/>
        </p:nvSpPr>
        <p:spPr>
          <a:xfrm>
            <a:off x="4718304" y="399592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139" name="Shape 137"/>
          <p:cNvSpPr/>
          <p:nvPr/>
        </p:nvSpPr>
        <p:spPr>
          <a:xfrm>
            <a:off x="5797296" y="399592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8"/>
          <p:cNvSpPr/>
          <p:nvPr/>
        </p:nvSpPr>
        <p:spPr>
          <a:xfrm>
            <a:off x="5797296" y="399592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141" name="Shape 139"/>
          <p:cNvSpPr/>
          <p:nvPr/>
        </p:nvSpPr>
        <p:spPr>
          <a:xfrm>
            <a:off x="6876288" y="399592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/>
          <p:nvPr/>
        </p:nvSpPr>
        <p:spPr>
          <a:xfrm>
            <a:off x="6876288" y="399592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3" name="Shape 141"/>
          <p:cNvSpPr/>
          <p:nvPr/>
        </p:nvSpPr>
        <p:spPr>
          <a:xfrm>
            <a:off x="7955280" y="399592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142"/>
          <p:cNvSpPr/>
          <p:nvPr/>
        </p:nvSpPr>
        <p:spPr>
          <a:xfrm>
            <a:off x="7955280" y="399592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145" name="Shape 143"/>
          <p:cNvSpPr/>
          <p:nvPr/>
        </p:nvSpPr>
        <p:spPr>
          <a:xfrm>
            <a:off x="320040" y="4315968"/>
            <a:ext cx="22402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411480" y="431596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Per-User Fees</a:t>
            </a:r>
            <a:endParaRPr lang="en-US" sz="1050" dirty="0"/>
          </a:p>
        </p:txBody>
      </p:sp>
      <p:sp>
        <p:nvSpPr>
          <p:cNvPr id="147" name="Shape 145"/>
          <p:cNvSpPr/>
          <p:nvPr/>
        </p:nvSpPr>
        <p:spPr>
          <a:xfrm>
            <a:off x="2560320" y="4315968"/>
            <a:ext cx="1078992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2560320" y="431596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9" name="Shape 147"/>
          <p:cNvSpPr/>
          <p:nvPr/>
        </p:nvSpPr>
        <p:spPr>
          <a:xfrm>
            <a:off x="3639312" y="431596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148"/>
          <p:cNvSpPr/>
          <p:nvPr/>
        </p:nvSpPr>
        <p:spPr>
          <a:xfrm>
            <a:off x="3639312" y="431596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51" name="Shape 149"/>
          <p:cNvSpPr/>
          <p:nvPr/>
        </p:nvSpPr>
        <p:spPr>
          <a:xfrm>
            <a:off x="4718304" y="431596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150"/>
          <p:cNvSpPr/>
          <p:nvPr/>
        </p:nvSpPr>
        <p:spPr>
          <a:xfrm>
            <a:off x="4718304" y="431596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53" name="Shape 151"/>
          <p:cNvSpPr/>
          <p:nvPr/>
        </p:nvSpPr>
        <p:spPr>
          <a:xfrm>
            <a:off x="5797296" y="431596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152"/>
          <p:cNvSpPr/>
          <p:nvPr/>
        </p:nvSpPr>
        <p:spPr>
          <a:xfrm>
            <a:off x="5797296" y="431596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55" name="Shape 153"/>
          <p:cNvSpPr/>
          <p:nvPr/>
        </p:nvSpPr>
        <p:spPr>
          <a:xfrm>
            <a:off x="6876288" y="431596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4"/>
          <p:cNvSpPr/>
          <p:nvPr/>
        </p:nvSpPr>
        <p:spPr>
          <a:xfrm>
            <a:off x="6876288" y="431596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57" name="Shape 155"/>
          <p:cNvSpPr/>
          <p:nvPr/>
        </p:nvSpPr>
        <p:spPr>
          <a:xfrm>
            <a:off x="7955280" y="431596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Text 156"/>
          <p:cNvSpPr/>
          <p:nvPr/>
        </p:nvSpPr>
        <p:spPr>
          <a:xfrm>
            <a:off x="7955280" y="431596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59" name="Shape 157"/>
          <p:cNvSpPr/>
          <p:nvPr/>
        </p:nvSpPr>
        <p:spPr>
          <a:xfrm>
            <a:off x="320040" y="4636008"/>
            <a:ext cx="2240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 158"/>
          <p:cNvSpPr/>
          <p:nvPr/>
        </p:nvSpPr>
        <p:spPr>
          <a:xfrm>
            <a:off x="411480" y="46360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Features</a:t>
            </a:r>
            <a:endParaRPr lang="en-US" sz="1050" dirty="0"/>
          </a:p>
        </p:txBody>
      </p:sp>
      <p:sp>
        <p:nvSpPr>
          <p:cNvPr id="161" name="Shape 159"/>
          <p:cNvSpPr/>
          <p:nvPr/>
        </p:nvSpPr>
        <p:spPr>
          <a:xfrm>
            <a:off x="2560320" y="4636008"/>
            <a:ext cx="1078992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160"/>
          <p:cNvSpPr/>
          <p:nvPr/>
        </p:nvSpPr>
        <p:spPr>
          <a:xfrm>
            <a:off x="2560320" y="46360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63" name="Shape 161"/>
          <p:cNvSpPr/>
          <p:nvPr/>
        </p:nvSpPr>
        <p:spPr>
          <a:xfrm>
            <a:off x="3639312" y="463600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Text 162"/>
          <p:cNvSpPr/>
          <p:nvPr/>
        </p:nvSpPr>
        <p:spPr>
          <a:xfrm>
            <a:off x="3639312" y="46360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5" name="Shape 163"/>
          <p:cNvSpPr/>
          <p:nvPr/>
        </p:nvSpPr>
        <p:spPr>
          <a:xfrm>
            <a:off x="4718304" y="463600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Text 164"/>
          <p:cNvSpPr/>
          <p:nvPr/>
        </p:nvSpPr>
        <p:spPr>
          <a:xfrm>
            <a:off x="4718304" y="46360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67" name="Shape 165"/>
          <p:cNvSpPr/>
          <p:nvPr/>
        </p:nvSpPr>
        <p:spPr>
          <a:xfrm>
            <a:off x="5797296" y="463600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Text 166"/>
          <p:cNvSpPr/>
          <p:nvPr/>
        </p:nvSpPr>
        <p:spPr>
          <a:xfrm>
            <a:off x="5797296" y="46360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69" name="Shape 167"/>
          <p:cNvSpPr/>
          <p:nvPr/>
        </p:nvSpPr>
        <p:spPr>
          <a:xfrm>
            <a:off x="6876288" y="463600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Text 168"/>
          <p:cNvSpPr/>
          <p:nvPr/>
        </p:nvSpPr>
        <p:spPr>
          <a:xfrm>
            <a:off x="6876288" y="46360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71" name="Shape 169"/>
          <p:cNvSpPr/>
          <p:nvPr/>
        </p:nvSpPr>
        <p:spPr>
          <a:xfrm>
            <a:off x="7955280" y="463600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Text 170"/>
          <p:cNvSpPr/>
          <p:nvPr/>
        </p:nvSpPr>
        <p:spPr>
          <a:xfrm>
            <a:off x="7955280" y="46360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73" name="Text 171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= Limited  |  Wooqer AI features include SensEye planogram AI, Lens SOP assistant, and Wally co-pilot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Benefit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users  ·  3-year total cost of ownership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2651760" cy="3767328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98755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Avg. Competitor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15727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$15,000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7472" y="21762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cost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2487168"/>
            <a:ext cx="21031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2578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$25/user/month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0352" y="2871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users = $1,250/mo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0352" y="31638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2: $15,000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0352" y="34564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3: $15,000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" y="422452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" y="42245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Total: $45,000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987552"/>
            <a:ext cx="2651760" cy="3767328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0" y="98755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0" y="98755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StorePrint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15727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$3,600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200400" y="21762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cost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0" y="2487168"/>
            <a:ext cx="21031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83280" y="2578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~$300/mo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83280" y="2871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per-user fees ever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83280" y="31638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2: $3,600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83280" y="34564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3: $3,600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37560" y="422452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37560" y="42245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Total: $10,800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53328" y="987552"/>
            <a:ext cx="2651760" cy="3767328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53328" y="98755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53328" y="98755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Savings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53328" y="15727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$34,200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6053328" y="21762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savings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27648" y="2487168"/>
            <a:ext cx="21031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36208" y="2578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saved: $11,400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36208" y="2871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saved: $11,400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36208" y="31638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saved: $11,400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90488" y="422452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190488" y="42245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 Cost Reduction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0040" y="4901184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Wooqer custom enterprise pricing est. $20–40/user/month — still 3–7× StorePrint infrastructure costs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on Investment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17043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Cost Savings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98424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$25–50/user/month licensing. For 50 users over 3 years: save $34,200+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00584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00600" y="117043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983480" y="16642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Savings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198424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GPS-verified auditing cuts admin time ~60%. Auto-scoring eliminates manual calculation.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313639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" y="36301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Lift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95020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drives store compliance. Issues corrected same-day, not next week.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97180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0" y="313639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983480" y="36301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Efficiency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395020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 replaces 6+ separate tools. One login for all store operations.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Real Users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2651760" cy="3822192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16152" y="1170432"/>
            <a:ext cx="914400" cy="914400"/>
          </a:xfrm>
          <a:prstGeom prst="ellipse">
            <a:avLst/>
          </a:prstGeom>
          <a:solidFill>
            <a:srgbClr val="0F234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16152" y="117043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4632" y="22128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Manager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87552" y="2651760"/>
            <a:ext cx="1371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283464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all stores from one screen. Reviews audit scores, tracks attendance across locations, manages rosters.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987552"/>
            <a:ext cx="2651760" cy="3822192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069080" y="1170432"/>
            <a:ext cx="914400" cy="914400"/>
          </a:xfrm>
          <a:prstGeom prst="ellipse">
            <a:avLst/>
          </a:prstGeom>
          <a:solidFill>
            <a:srgbClr val="0F234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69080" y="117043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🏪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37560" y="22128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Manager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40480" y="2651760"/>
            <a:ext cx="1371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83280" y="283464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rosters, conducts audits, views live presence. Manages day-to-day store operations end-to-end.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53328" y="987552"/>
            <a:ext cx="2651760" cy="3822192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22008" y="1170432"/>
            <a:ext cx="914400" cy="914400"/>
          </a:xfrm>
          <a:prstGeom prst="ellipse">
            <a:avLst/>
          </a:prstGeom>
          <a:solidFill>
            <a:srgbClr val="0F234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22008" y="117043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90488" y="22128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Staff / Auditor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693408" y="2651760"/>
            <a:ext cx="1371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36208" y="283464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Clocks in with GPS, fills audits on phone, views their roster. Simple and focused mobile interface.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Mobile-First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iOS, Android, and Web Browser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60520" cy="1508760"/>
          </a:xfrm>
          <a:prstGeom prst="roundRect">
            <a:avLst>
              <a:gd name="adj" fmla="val 6061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60020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Cross-Platform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984248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Expo/React Native — one codebase, three platforms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325880"/>
            <a:ext cx="4160520" cy="1508760"/>
          </a:xfrm>
          <a:prstGeom prst="roundRect">
            <a:avLst>
              <a:gd name="adj" fmla="val 6061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83480" y="178308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760720" y="160020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Tabs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60720" y="1984248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modules shown clearly per user role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160520" cy="1508760"/>
          </a:xfrm>
          <a:prstGeom prst="roundRect">
            <a:avLst>
              <a:gd name="adj" fmla="val 6061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25880" y="333756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GPS-Native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721608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Camera, location, all device features built-in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3063240"/>
            <a:ext cx="4160520" cy="1508760"/>
          </a:xfrm>
          <a:prstGeom prst="roundRect">
            <a:avLst>
              <a:gd name="adj" fmla="val 6061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83480" y="352044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3520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760720" y="333756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60720" y="3721608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— works in any browser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&amp; Onboarding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8680" y="1024128"/>
            <a:ext cx="868680" cy="868680"/>
          </a:xfrm>
          <a:prstGeom prst="ellipse">
            <a:avLst/>
          </a:prstGeom>
          <a:solidFill>
            <a:srgbClr val="0F2342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02412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737360" y="1458468"/>
            <a:ext cx="7315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&amp; Deploy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724912"/>
            <a:ext cx="192024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21208" y="2898648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04088" y="27889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1208" y="3374136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04088" y="326440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setup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1208" y="384962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4088" y="3739896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configuration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17520" y="1024128"/>
            <a:ext cx="868680" cy="868680"/>
          </a:xfrm>
          <a:prstGeom prst="ellipse">
            <a:avLst/>
          </a:prstGeom>
          <a:solidFill>
            <a:srgbClr val="0F2342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017520" y="102412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886200" y="1458468"/>
            <a:ext cx="7315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60320" y="2011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14600" y="2724912"/>
            <a:ext cx="192024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670048" y="2898648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852928" y="27889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stores &amp; users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670048" y="3374136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852928" y="326440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permissions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670048" y="384962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852928" y="3739896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audit templates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66360" y="1024128"/>
            <a:ext cx="868680" cy="868680"/>
          </a:xfrm>
          <a:prstGeom prst="ellipse">
            <a:avLst/>
          </a:prstGeom>
          <a:solidFill>
            <a:srgbClr val="0F2342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66360" y="102412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035040" y="1458468"/>
            <a:ext cx="7315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09160" y="2011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2724912"/>
            <a:ext cx="192024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18888" y="2898648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01768" y="27889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managers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18888" y="3374136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01768" y="326440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audit run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18888" y="384962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01768" y="3739896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calibration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315200" y="1024128"/>
            <a:ext cx="868680" cy="86868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315200" y="102412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858000" y="2011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Live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812280" y="2724912"/>
            <a:ext cx="192024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967728" y="2898648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150608" y="27889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rollout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967728" y="3374136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150608" y="326440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active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967728" y="384962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150608" y="3739896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live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20040" y="4590288"/>
            <a:ext cx="8503920" cy="438912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11480" y="459028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Full deployment completed within 4 weeks  ·  Dedicated onboarding support included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Choose StorePrint?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" y="1129284"/>
            <a:ext cx="448056" cy="448056"/>
          </a:xfrm>
          <a:prstGeom prst="ellipse">
            <a:avLst/>
          </a:prstGeom>
          <a:solidFill>
            <a:srgbClr val="0F234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129284"/>
            <a:ext cx="44805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10698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All-in-One Platform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3716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modules replacing 6+ separate tools. One login, complete visibility.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801368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" y="1906524"/>
            <a:ext cx="448056" cy="448056"/>
          </a:xfrm>
          <a:prstGeom prst="ellipse">
            <a:avLst/>
          </a:prstGeom>
          <a:solidFill>
            <a:srgbClr val="0F234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1906524"/>
            <a:ext cx="44805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8992" y="18470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 Cost Reduction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8992" y="21488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infrastructure only. No per-user licensing fees ever.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2578608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" y="2683764"/>
            <a:ext cx="448056" cy="448056"/>
          </a:xfrm>
          <a:prstGeom prst="ellipse">
            <a:avLst/>
          </a:prstGeom>
          <a:solidFill>
            <a:srgbClr val="0F234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2683764"/>
            <a:ext cx="44805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8992" y="26243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GPS-First Design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29260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clock-in, audit start, and submission geo-verified at the store.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355848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" y="3461004"/>
            <a:ext cx="448056" cy="448056"/>
          </a:xfrm>
          <a:prstGeom prst="ellipse">
            <a:avLst/>
          </a:prstGeom>
          <a:solidFill>
            <a:srgbClr val="0F234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" y="3461004"/>
            <a:ext cx="44805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78992" y="34015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Sovereignty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78992" y="37033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on your servers. No third-party cloud. Full compliance control.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4133088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" y="4238244"/>
            <a:ext cx="448056" cy="448056"/>
          </a:xfrm>
          <a:prstGeom prst="ellipse">
            <a:avLst/>
          </a:prstGeom>
          <a:solidFill>
            <a:srgbClr val="0F234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" y="4238244"/>
            <a:ext cx="44805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78992" y="4178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Scale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78992" y="44805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architecture scales from 10 to 10,000 users with no cost increase.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StorePrint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Complete Store Control.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029968"/>
            <a:ext cx="27432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11680" y="2377440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11680" y="237744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Demo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11680" y="3127248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11680" y="3127248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Technical Documentation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11680" y="3877056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11680" y="3877056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Pilot Deployment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brands that demand excellence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1479</Words>
  <Application>Microsoft Office PowerPoint</Application>
  <PresentationFormat>On-screen Show (16:9)</PresentationFormat>
  <Paragraphs>512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StorePrint - Brand Store Management Platform</dc:title>
  <dc:subject>PptxGenJS Presentation</dc:subject>
  <dc:creator>PptxGenJS</dc:creator>
  <cp:lastModifiedBy>Muhammad Khalilullah</cp:lastModifiedBy>
  <cp:revision>4</cp:revision>
  <dcterms:created xsi:type="dcterms:W3CDTF">2026-06-16T06:08:49Z</dcterms:created>
  <dcterms:modified xsi:type="dcterms:W3CDTF">2026-07-14T09:08:00Z</dcterms:modified>
</cp:coreProperties>
</file>